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D722BF-584B-4510-AF00-2F88307EC76B}">
  <a:tblStyle styleId="{D7D722BF-584B-4510-AF00-2F88307EC7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4.xml"/><Relationship Id="rId41" Type="http://schemas.openxmlformats.org/officeDocument/2006/relationships/font" Target="fonts/La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5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-italic.fntdata"/><Relationship Id="rId13" Type="http://schemas.openxmlformats.org/officeDocument/2006/relationships/slide" Target="slides/slide7.xml"/><Relationship Id="rId35" Type="http://schemas.openxmlformats.org/officeDocument/2006/relationships/font" Target="fonts/Roboto-bold.fntdata"/><Relationship Id="rId12" Type="http://schemas.openxmlformats.org/officeDocument/2006/relationships/slide" Target="slides/slide6.xml"/><Relationship Id="rId34" Type="http://schemas.openxmlformats.org/officeDocument/2006/relationships/font" Target="fonts/Roboto-regular.fntdata"/><Relationship Id="rId15" Type="http://schemas.openxmlformats.org/officeDocument/2006/relationships/slide" Target="slides/slide9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-italic.fntdata"/><Relationship Id="rId17" Type="http://schemas.openxmlformats.org/officeDocument/2006/relationships/slide" Target="slides/slide11.xml"/><Relationship Id="rId39" Type="http://schemas.openxmlformats.org/officeDocument/2006/relationships/font" Target="fonts/Lato-bold.fntdata"/><Relationship Id="rId16" Type="http://schemas.openxmlformats.org/officeDocument/2006/relationships/slide" Target="slides/slide10.xml"/><Relationship Id="rId38" Type="http://schemas.openxmlformats.org/officeDocument/2006/relationships/font" Target="fonts/La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faf369b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6faf369b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baaa3532c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baaa3532c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faf369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6faf369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6faf369b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6faf369b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6faf369b5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6faf369b5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baaa3532c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baaa3532c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baaa3532c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baaa3532c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baaa3532c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baaa3532c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6faf369b5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6faf369b5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6faf369b5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6faf369b5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baaa3532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baaa3532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baaa3532c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baaa3532c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aaa3532c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baaa3532c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baaa3532c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baaa3532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baaa3532c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baaa3532c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baaa3532c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baaa3532c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baaa3532c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baaa3532c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baaa3532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baaa3532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baaa3532c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baaa3532c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baaa3532c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baaa3532c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baaa3532c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baaa3532c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baaa3532c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baaa3532c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baaa3532c_7_0)">
  <p:cSld name="Title and body (g3dbaaa3532c_7_0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baaa3532c_14_0)">
  <p:cSld name="Title and body (g3dbaaa3532c_14_0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kaggle.com/datasets/uciml/adult-census-incom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ctrTitle"/>
          </p:nvPr>
        </p:nvSpPr>
        <p:spPr>
          <a:xfrm>
            <a:off x="436250" y="450950"/>
            <a:ext cx="8520600" cy="14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SCRDR Tutorial - Experiment</a:t>
            </a:r>
            <a:endParaRPr sz="4700"/>
          </a:p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311700" y="1803375"/>
            <a:ext cx="8520600" cy="11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958"/>
              <a:buNone/>
            </a:pPr>
            <a:r>
              <a:rPr b="1" lang="en" sz="2400">
                <a:solidFill>
                  <a:srgbClr val="065A82"/>
                </a:solidFill>
              </a:rPr>
              <a:t>Two New Datasets </a:t>
            </a:r>
            <a:endParaRPr b="1" sz="2400">
              <a:solidFill>
                <a:srgbClr val="065A8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958"/>
              <a:buNone/>
            </a:pPr>
            <a:r>
              <a:rPr b="1" lang="en" sz="2400">
                <a:solidFill>
                  <a:srgbClr val="065A82"/>
                </a:solidFill>
              </a:rPr>
              <a:t>and </a:t>
            </a:r>
            <a:endParaRPr b="1" sz="2400">
              <a:solidFill>
                <a:srgbClr val="065A8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958"/>
              <a:buNone/>
            </a:pPr>
            <a:r>
              <a:rPr b="1" lang="en" sz="2400">
                <a:solidFill>
                  <a:srgbClr val="065A82"/>
                </a:solidFill>
              </a:rPr>
              <a:t>an Interactive Knowledge-Acquisition Experiment</a:t>
            </a:r>
            <a:endParaRPr b="1" sz="2400">
              <a:solidFill>
                <a:srgbClr val="065A82"/>
              </a:solidFill>
            </a:endParaRPr>
          </a:p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311700" y="339438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2700">
                <a:solidFill>
                  <a:schemeClr val="dk1"/>
                </a:solidFill>
              </a:rPr>
              <a:t>GROUP IV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97" name="Google Shape;97;p15"/>
          <p:cNvSpPr txBox="1"/>
          <p:nvPr>
            <p:ph idx="1" type="subTitle"/>
          </p:nvPr>
        </p:nvSpPr>
        <p:spPr>
          <a:xfrm>
            <a:off x="6771650" y="4247625"/>
            <a:ext cx="2185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2000">
                <a:solidFill>
                  <a:schemeClr val="dk1"/>
                </a:solidFill>
              </a:rPr>
              <a:t>May 03, 2026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248225" y="4187000"/>
            <a:ext cx="5751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700">
                <a:solidFill>
                  <a:schemeClr val="dk1"/>
                </a:solidFill>
              </a:rPr>
              <a:t>Dr. Ye Kyaw Thu - (LU Lab., Myanmar)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700">
                <a:solidFill>
                  <a:schemeClr val="dk1"/>
                </a:solidFill>
              </a:rPr>
              <a:t>AI Engineering (Fundamental)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of this Presentation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Background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Details of this Experiment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Datasets Applied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Experiment Workflow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Auto Induction </a:t>
            </a:r>
            <a:r>
              <a:rPr lang="en">
                <a:solidFill>
                  <a:srgbClr val="000000"/>
                </a:solidFill>
              </a:rPr>
              <a:t>SCRDR</a:t>
            </a:r>
            <a:r>
              <a:rPr lang="en">
                <a:solidFill>
                  <a:srgbClr val="000000"/>
                </a:solidFill>
              </a:rPr>
              <a:t> (Learner)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Interactive </a:t>
            </a:r>
            <a:r>
              <a:rPr lang="en">
                <a:solidFill>
                  <a:srgbClr val="000000"/>
                </a:solidFill>
              </a:rPr>
              <a:t>SCRDR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Conclusion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0" y="494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 What is SCRDR?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7350" y="1872300"/>
            <a:ext cx="4572000" cy="32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A binary tree of rules where each rule is added because the system failed on a real case.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 Key principles: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Case-driven rule creation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Cornerstone cases prevent regressions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No retraction — rules only refined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Last True rule in path fires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134550" y="1308105"/>
            <a:ext cx="443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65A82"/>
                </a:solidFill>
              </a:rPr>
              <a:t>Single Classification Ripple-Down Rules</a:t>
            </a:r>
            <a:endParaRPr b="1" sz="1600">
              <a:solidFill>
                <a:srgbClr val="065A82"/>
              </a:solidFill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2040455"/>
            <a:ext cx="4267197" cy="1947796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Details of this Experiment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0" y="1323900"/>
            <a:ext cx="88323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The original tutorial compare five datasets with ML and SCRDR.</a:t>
            </a:r>
            <a:endParaRPr b="1" sz="1600">
              <a:solidFill>
                <a:srgbClr val="065A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Thisi work is the extended the origin with two new datasets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230775" y="2406300"/>
            <a:ext cx="3863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 Add Two New Datasets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Heart Disease (UCI)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Adult Income (UCI)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Run both ML baseline (5 methods) and SCRDR auto-induction</a:t>
            </a:r>
            <a:endParaRPr sz="1800"/>
          </a:p>
        </p:txBody>
      </p:sp>
      <p:sp>
        <p:nvSpPr>
          <p:cNvPr id="120" name="Google Shape;120;p18"/>
          <p:cNvSpPr txBox="1"/>
          <p:nvPr/>
        </p:nvSpPr>
        <p:spPr>
          <a:xfrm>
            <a:off x="5135850" y="2406300"/>
            <a:ext cx="3863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 Try Interactive SCRDR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Build rules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to auto-induction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Test RDR’s main strength: Explainable knowledge from a human expert </a:t>
            </a:r>
            <a:r>
              <a:rPr lang="en" sz="1800"/>
              <a:t>opinion.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0" y="49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 Applied</a:t>
            </a:r>
            <a:endParaRPr/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457200" y="1380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2190750"/>
                <a:gridCol w="1438275"/>
                <a:gridCol w="1162050"/>
                <a:gridCol w="2038350"/>
                <a:gridCol w="1400175"/>
              </a:tblGrid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Dataset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Type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Rows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Target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Source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Iris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Numeric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class (3 species)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UCI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Wine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Numeric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178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Class (3)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UCI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Mushroom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Categorical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8124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edible / poisonous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UCI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WDBC (Breast Cancer)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Numeric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569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Diagnosis (M/B)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UCI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Titanic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Mixed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891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Survived (0/1)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Kaggle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Heart Disease  (NEW)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Mixed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303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target (0/1)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UCI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Adult Income  (NEW)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Mixed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32,561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income (&gt;50K)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UCI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19"/>
          <p:cNvSpPr txBox="1"/>
          <p:nvPr/>
        </p:nvSpPr>
        <p:spPr>
          <a:xfrm>
            <a:off x="457200" y="4655800"/>
            <a:ext cx="843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64748B"/>
                </a:solidFill>
              </a:rPr>
              <a:t>New datasets: a small medical dataset (Heart) and a large categorical-heavy dataset (Adult).</a:t>
            </a:r>
            <a:endParaRPr i="1" sz="11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20"/>
          <p:cNvGrpSpPr/>
          <p:nvPr/>
        </p:nvGrpSpPr>
        <p:grpSpPr>
          <a:xfrm>
            <a:off x="-1711428" y="-1524909"/>
            <a:ext cx="3287583" cy="2761990"/>
            <a:chOff x="952500" y="1095375"/>
            <a:chExt cx="4692525" cy="1518829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952500" y="1095375"/>
              <a:ext cx="381000" cy="477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1381125" y="1095375"/>
              <a:ext cx="381000" cy="477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10300" y="4878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Experiment</a:t>
            </a:r>
            <a:r>
              <a:rPr b="1" lang="en" sz="32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 Workflow</a:t>
            </a:r>
            <a:endParaRPr b="1" sz="32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39" name="Google Shape;139;p20"/>
          <p:cNvGrpSpPr/>
          <p:nvPr/>
        </p:nvGrpSpPr>
        <p:grpSpPr>
          <a:xfrm>
            <a:off x="762000" y="1428750"/>
            <a:ext cx="3619500" cy="1428900"/>
            <a:chOff x="762000" y="1428750"/>
            <a:chExt cx="3619500" cy="1428900"/>
          </a:xfrm>
        </p:grpSpPr>
        <p:sp>
          <p:nvSpPr>
            <p:cNvPr id="140" name="Google Shape;140;p20"/>
            <p:cNvSpPr/>
            <p:nvPr/>
          </p:nvSpPr>
          <p:spPr>
            <a:xfrm>
              <a:off x="762000" y="1428750"/>
              <a:ext cx="3619500" cy="1428900"/>
            </a:xfrm>
            <a:prstGeom prst="roundRect">
              <a:avLst>
                <a:gd fmla="val 5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0"/>
            <p:cNvSpPr txBox="1"/>
            <p:nvPr/>
          </p:nvSpPr>
          <p:spPr>
            <a:xfrm>
              <a:off x="952500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" name="Google Shape;142;p20"/>
            <p:cNvSpPr txBox="1"/>
            <p:nvPr/>
          </p:nvSpPr>
          <p:spPr>
            <a:xfrm>
              <a:off x="1428750" y="157162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1. Data &amp; Preprocessing</a:t>
              </a:r>
              <a:endParaRPr b="1" sz="14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latin typeface="Lato"/>
                  <a:ea typeface="Lato"/>
                  <a:cs typeface="Lato"/>
                  <a:sym typeface="Lato"/>
                </a:rPr>
                <a:t>Acquisition and cleaning of primary data sources.</a:t>
              </a:r>
              <a:endParaRPr sz="1100">
                <a:latin typeface="Lato"/>
                <a:ea typeface="Lato"/>
                <a:cs typeface="Lato"/>
                <a:sym typeface="La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Lato"/>
                <a:buChar char="●"/>
              </a:pPr>
              <a:r>
                <a:rPr lang="en" sz="1000">
                  <a:latin typeface="Lato"/>
                  <a:ea typeface="Lato"/>
                  <a:cs typeface="Lato"/>
                  <a:sym typeface="Lato"/>
                </a:rPr>
                <a:t>Heart Datasets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Lato"/>
                <a:buChar char="●"/>
              </a:pPr>
              <a:r>
                <a:rPr lang="en" sz="1000">
                  <a:latin typeface="Lato"/>
                  <a:ea typeface="Lato"/>
                  <a:cs typeface="Lato"/>
                  <a:sym typeface="Lato"/>
                </a:rPr>
                <a:t>Adult Datasets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3" name="Google Shape;143;p20"/>
          <p:cNvGrpSpPr/>
          <p:nvPr/>
        </p:nvGrpSpPr>
        <p:grpSpPr>
          <a:xfrm>
            <a:off x="4762500" y="1428750"/>
            <a:ext cx="3619500" cy="1428900"/>
            <a:chOff x="4762500" y="1428750"/>
            <a:chExt cx="3619500" cy="1428900"/>
          </a:xfrm>
        </p:grpSpPr>
        <p:sp>
          <p:nvSpPr>
            <p:cNvPr id="144" name="Google Shape;144;p20"/>
            <p:cNvSpPr/>
            <p:nvPr/>
          </p:nvSpPr>
          <p:spPr>
            <a:xfrm>
              <a:off x="4762500" y="1428750"/>
              <a:ext cx="3619500" cy="1428900"/>
            </a:xfrm>
            <a:prstGeom prst="roundRect">
              <a:avLst>
                <a:gd fmla="val 5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0"/>
            <p:cNvSpPr txBox="1"/>
            <p:nvPr/>
          </p:nvSpPr>
          <p:spPr>
            <a:xfrm>
              <a:off x="4953000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5429250" y="157162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2. ML Baseline</a:t>
              </a:r>
              <a:endParaRPr b="1" sz="14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latin typeface="Lato"/>
                  <a:ea typeface="Lato"/>
                  <a:cs typeface="Lato"/>
                  <a:sym typeface="Lato"/>
                </a:rPr>
                <a:t>Establishing performance benchmarks.</a:t>
              </a:r>
              <a:endParaRPr sz="1100">
                <a:latin typeface="Lato"/>
                <a:ea typeface="Lato"/>
                <a:cs typeface="Lato"/>
                <a:sym typeface="La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Lato"/>
                <a:buChar char="●"/>
              </a:pPr>
              <a:r>
                <a:rPr lang="en" sz="1000">
                  <a:latin typeface="Lato"/>
                  <a:ea typeface="Lato"/>
                  <a:cs typeface="Lato"/>
                  <a:sym typeface="Lato"/>
                </a:rPr>
                <a:t>Five ML Methods evaluated on new datasets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7" name="Google Shape;147;p20"/>
          <p:cNvGrpSpPr/>
          <p:nvPr/>
        </p:nvGrpSpPr>
        <p:grpSpPr>
          <a:xfrm>
            <a:off x="762000" y="3048000"/>
            <a:ext cx="3619500" cy="1428900"/>
            <a:chOff x="762000" y="3048000"/>
            <a:chExt cx="3619500" cy="1428900"/>
          </a:xfrm>
        </p:grpSpPr>
        <p:sp>
          <p:nvSpPr>
            <p:cNvPr id="148" name="Google Shape;148;p20"/>
            <p:cNvSpPr/>
            <p:nvPr/>
          </p:nvSpPr>
          <p:spPr>
            <a:xfrm>
              <a:off x="762000" y="3048000"/>
              <a:ext cx="3619500" cy="1428900"/>
            </a:xfrm>
            <a:prstGeom prst="roundRect">
              <a:avLst>
                <a:gd fmla="val 5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0"/>
            <p:cNvSpPr txBox="1"/>
            <p:nvPr/>
          </p:nvSpPr>
          <p:spPr>
            <a:xfrm>
              <a:off x="952500" y="3225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B5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2400">
                <a:solidFill>
                  <a:srgbClr val="EB5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1428750" y="319087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3. SCRDR Auto</a:t>
              </a:r>
              <a:endParaRPr b="1" sz="14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latin typeface="Lato"/>
                  <a:ea typeface="Lato"/>
                  <a:cs typeface="Lato"/>
                  <a:sym typeface="Lato"/>
                </a:rPr>
                <a:t>Automated induction process.</a:t>
              </a:r>
              <a:endParaRPr sz="1100">
                <a:latin typeface="Lato"/>
                <a:ea typeface="Lato"/>
                <a:cs typeface="Lato"/>
                <a:sym typeface="La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Lato"/>
                <a:buChar char="●"/>
              </a:pPr>
              <a:r>
                <a:rPr lang="en" sz="1000">
                  <a:latin typeface="Lato"/>
                  <a:ea typeface="Lato"/>
                  <a:cs typeface="Lato"/>
                  <a:sym typeface="Lato"/>
                </a:rPr>
                <a:t>Run </a:t>
              </a:r>
              <a:r>
                <a:rPr lang="en" sz="1000">
                  <a:latin typeface="Courier New"/>
                  <a:ea typeface="Courier New"/>
                  <a:cs typeface="Courier New"/>
                  <a:sym typeface="Courier New"/>
                </a:rPr>
                <a:t>scrdr_learner.py</a:t>
              </a:r>
              <a:r>
                <a:rPr lang="en" sz="1000">
                  <a:latin typeface="Lato"/>
                  <a:ea typeface="Lato"/>
                  <a:cs typeface="Lato"/>
                  <a:sym typeface="Lato"/>
                </a:rPr>
                <a:t> on both datasets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4762500" y="3048000"/>
            <a:ext cx="3619500" cy="1428900"/>
            <a:chOff x="4762500" y="3048000"/>
            <a:chExt cx="3619500" cy="1428900"/>
          </a:xfrm>
        </p:grpSpPr>
        <p:sp>
          <p:nvSpPr>
            <p:cNvPr id="152" name="Google Shape;152;p20"/>
            <p:cNvSpPr/>
            <p:nvPr/>
          </p:nvSpPr>
          <p:spPr>
            <a:xfrm>
              <a:off x="4762500" y="3048000"/>
              <a:ext cx="3619500" cy="1428900"/>
            </a:xfrm>
            <a:prstGeom prst="roundRect">
              <a:avLst>
                <a:gd fmla="val 5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4953000" y="3225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B5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EB5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4" name="Google Shape;154;p20"/>
            <p:cNvSpPr txBox="1"/>
            <p:nvPr/>
          </p:nvSpPr>
          <p:spPr>
            <a:xfrm>
              <a:off x="5429250" y="319087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4. SCRDR Interactive</a:t>
              </a:r>
              <a:endParaRPr b="1" sz="14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latin typeface="Lato"/>
                  <a:ea typeface="Lato"/>
                  <a:cs typeface="Lato"/>
                  <a:sym typeface="Lato"/>
                </a:rPr>
                <a:t>Human-in-the-loop refinement.</a:t>
              </a:r>
              <a:endParaRPr sz="1100">
                <a:latin typeface="Lato"/>
                <a:ea typeface="Lato"/>
                <a:cs typeface="Lato"/>
                <a:sym typeface="La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Lato"/>
                <a:buChar char="●"/>
              </a:pPr>
              <a:r>
                <a:rPr lang="en" sz="1000">
                  <a:latin typeface="Lato"/>
                  <a:ea typeface="Lato"/>
                  <a:cs typeface="Lato"/>
                  <a:sym typeface="Lato"/>
                </a:rPr>
                <a:t>Manual Rule setting and expert validation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4380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Disease - Features &amp; Target</a:t>
            </a:r>
            <a:endParaRPr/>
          </a:p>
        </p:txBody>
      </p:sp>
      <p:graphicFrame>
        <p:nvGraphicFramePr>
          <p:cNvPr id="160" name="Google Shape;160;p21"/>
          <p:cNvGraphicFramePr/>
          <p:nvPr/>
        </p:nvGraphicFramePr>
        <p:xfrm>
          <a:off x="327500" y="82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2121250"/>
                <a:gridCol w="2121250"/>
                <a:gridCol w="2121250"/>
                <a:gridCol w="2121250"/>
              </a:tblGrid>
              <a:tr h="18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Meaning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Remark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</a:tcPr>
                </a:tc>
              </a:tr>
              <a:tr h="27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 in years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&gt;55 increases risk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sex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0/1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0=female, 1=male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Males higher risk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cp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0–3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Chest pain type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0=typical angina, 3=asymptomatic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trestbps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Resting BP (mmHg)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&gt;140 is hypertensive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18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chol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Cholesterol (mg/dl)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&gt;240 is high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fbs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0/1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Fasting blood sugar &gt;120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1=diabetic-range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18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restecg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0–2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Resting ECG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1,2 = abnormal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thalach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Max heart rate achieved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&gt;150 is good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exang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0/1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Exercise-induced angina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1=positive (bad)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oldpeak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 depression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&gt;2 strong disease signal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slope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0–2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 slope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= downsloping (bad)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0–4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 major vessels colored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&gt;0 = blockage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0–3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Thalassemia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2=fixed, 3=reversible defect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0/1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 = no disease, 1 = disease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Adult Income Dataset - Features &amp; Target</a:t>
            </a:r>
            <a:endParaRPr/>
          </a:p>
        </p:txBody>
      </p:sp>
      <p:graphicFrame>
        <p:nvGraphicFramePr>
          <p:cNvPr id="166" name="Google Shape;166;p22"/>
          <p:cNvGraphicFramePr/>
          <p:nvPr/>
        </p:nvGraphicFramePr>
        <p:xfrm>
          <a:off x="830225" y="69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1670675"/>
                <a:gridCol w="1670675"/>
                <a:gridCol w="4142200"/>
              </a:tblGrid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Signal to Target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535F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5FC1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education-num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 (1–16)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Very strong: higher = more income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Strong: middle-age peak earnings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hours-per-week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Strong: &gt;40 = often high earner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capital-gain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Extreme signal: &gt;0 almost always &gt;50K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capital-loss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Moderate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marital-status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categorical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Strong: "Married-civ-spouse" much more often &gt;50K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occupation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categorical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Strong: "Exec-managerial", "Prof-specialty"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relationship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categorical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Strong (overlaps marital)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sex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M/F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Moderate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workclass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categorical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Weak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race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categorical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Weak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native-country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categorical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Weak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fnlwgt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Don't use — sampling weight, not predictive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E479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727650" y="230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Auto Induction</a:t>
            </a:r>
            <a:r>
              <a:rPr lang="en" sz="3000"/>
              <a:t> </a:t>
            </a:r>
            <a:r>
              <a:rPr lang="en" sz="3000"/>
              <a:t>SCRDR</a:t>
            </a:r>
            <a:r>
              <a:rPr lang="en" sz="3000"/>
              <a:t> (Learner)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0" y="49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Baseline (Weighted F1)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6400800" y="2078875"/>
            <a:ext cx="2743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endParaRPr b="1" i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Adult: NB collapses (0.34) due to feature correlation.</a:t>
            </a:r>
            <a:endParaRPr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Heart: SVM strongest (0.90); DT lowest (0.75).</a:t>
            </a:r>
            <a:endParaRPr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DT score is a useful proxy for SCRDR's ceiling.</a:t>
            </a:r>
            <a:endParaRPr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8" name="Google Shape;178;p24"/>
          <p:cNvGraphicFramePr/>
          <p:nvPr/>
        </p:nvGraphicFramePr>
        <p:xfrm>
          <a:off x="220975" y="138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1543050"/>
                <a:gridCol w="876300"/>
                <a:gridCol w="876300"/>
                <a:gridCol w="895350"/>
                <a:gridCol w="876300"/>
                <a:gridCol w="876300"/>
              </a:tblGrid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Dataset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RF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SVM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NB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LR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Iris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Wine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0.94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Mushroom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0.95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WDBC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0.95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0.96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0.97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0.96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0.97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Titanic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0.78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0.82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0.78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Adult  (new)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0.81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0.85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0.84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D97706"/>
                          </a:solidFill>
                        </a:rPr>
                        <a:t>0.34</a:t>
                      </a:r>
                      <a:endParaRPr b="1" sz="1200">
                        <a:solidFill>
                          <a:srgbClr val="D97706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0.84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Heart  (new)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0.75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0.87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0.90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0.85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59669"/>
                          </a:solidFill>
                        </a:rPr>
                        <a:t>0.89</a:t>
                      </a:r>
                      <a:endParaRPr b="1"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0" y="49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SCRDR Auto-Induction Results</a:t>
            </a:r>
            <a:endParaRPr/>
          </a:p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6400800" y="2078875"/>
            <a:ext cx="2743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1" i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Matches ML when data has clean rule structure.</a:t>
            </a:r>
            <a:endParaRPr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Underperforms on continuous medical/chemical data.</a:t>
            </a:r>
            <a:endParaRPr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Heart shows the biggest gap — motivates Stage 3.</a:t>
            </a:r>
            <a:endParaRPr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5" name="Google Shape;185;p25"/>
          <p:cNvGraphicFramePr/>
          <p:nvPr/>
        </p:nvGraphicFramePr>
        <p:xfrm>
          <a:off x="152400" y="138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1390650"/>
                <a:gridCol w="1114425"/>
                <a:gridCol w="1114425"/>
                <a:gridCol w="1181100"/>
                <a:gridCol w="1133475"/>
              </a:tblGrid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Dataset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Best ML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293B"/>
                          </a:solidFill>
                        </a:rPr>
                        <a:t>SCRDR</a:t>
                      </a:r>
                      <a:endParaRPr b="1"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293B"/>
                          </a:solidFill>
                        </a:rPr>
                        <a:t>Gap (vs DT)</a:t>
                      </a:r>
                      <a:endParaRPr b="1"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Iris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293B"/>
                          </a:solidFill>
                        </a:rPr>
                        <a:t>0.97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4748B"/>
                          </a:solidFill>
                        </a:rPr>
                        <a:t>−0.03</a:t>
                      </a:r>
                      <a:endParaRPr sz="1200">
                        <a:solidFill>
                          <a:srgbClr val="64748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Wine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0.94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97706"/>
                          </a:solidFill>
                        </a:rPr>
                        <a:t>0.72</a:t>
                      </a:r>
                      <a:endParaRPr sz="1200">
                        <a:solidFill>
                          <a:srgbClr val="D97706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97706"/>
                          </a:solidFill>
                        </a:rPr>
                        <a:t>−0.22</a:t>
                      </a:r>
                      <a:endParaRPr sz="1200">
                        <a:solidFill>
                          <a:srgbClr val="D97706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Mushroom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293B"/>
                          </a:solidFill>
                        </a:rPr>
                        <a:t>1.00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59669"/>
                          </a:solidFill>
                        </a:rPr>
                        <a:t>0.00</a:t>
                      </a:r>
                      <a:endParaRPr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WDBC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0.97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0.95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293B"/>
                          </a:solidFill>
                        </a:rPr>
                        <a:t>0.84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4748B"/>
                          </a:solidFill>
                        </a:rPr>
                        <a:t>−0.11</a:t>
                      </a:r>
                      <a:endParaRPr sz="1200">
                        <a:solidFill>
                          <a:srgbClr val="64748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Titanic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0.82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0.78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59669"/>
                          </a:solidFill>
                        </a:rPr>
                        <a:t>0.82</a:t>
                      </a:r>
                      <a:endParaRPr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59669"/>
                          </a:solidFill>
                        </a:rPr>
                        <a:t>+0.04</a:t>
                      </a:r>
                      <a:endParaRPr sz="1200">
                        <a:solidFill>
                          <a:srgbClr val="059669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Adult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0.85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0.81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293B"/>
                          </a:solidFill>
                        </a:rPr>
                        <a:t>0.74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4748B"/>
                          </a:solidFill>
                        </a:rPr>
                        <a:t>−0.07</a:t>
                      </a:r>
                      <a:endParaRPr sz="1200">
                        <a:solidFill>
                          <a:srgbClr val="64748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Heart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0.75</a:t>
                      </a:r>
                      <a:endParaRPr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97706"/>
                          </a:solidFill>
                        </a:rPr>
                        <a:t>0.56</a:t>
                      </a:r>
                      <a:endParaRPr sz="1200">
                        <a:solidFill>
                          <a:srgbClr val="D97706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97706"/>
                          </a:solidFill>
                        </a:rPr>
                        <a:t>−0.19</a:t>
                      </a:r>
                      <a:endParaRPr sz="1200">
                        <a:solidFill>
                          <a:srgbClr val="D97706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0" y="495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SCRDR Auto: Confusion Matrices</a:t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25" y="1334601"/>
            <a:ext cx="3795550" cy="265688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050" y="1334601"/>
            <a:ext cx="3795550" cy="265687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26"/>
          <p:cNvSpPr txBox="1"/>
          <p:nvPr/>
        </p:nvSpPr>
        <p:spPr>
          <a:xfrm>
            <a:off x="884300" y="3991475"/>
            <a:ext cx="320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Adult - Confusion Matrix 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5333625" y="3991475"/>
            <a:ext cx="320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Heart Disease - </a:t>
            </a:r>
            <a:r>
              <a:rPr b="1" lang="en" sz="1300">
                <a:latin typeface="Lato"/>
                <a:ea typeface="Lato"/>
                <a:cs typeface="Lato"/>
                <a:sym typeface="Lato"/>
              </a:rPr>
              <a:t> Confusion Matrix 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0" y="466425"/>
            <a:ext cx="91440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SCRDR Auto-Induction Benchmark with 5 ML Baselines</a:t>
            </a:r>
            <a:endParaRPr/>
          </a:p>
        </p:txBody>
      </p:sp>
      <p:graphicFrame>
        <p:nvGraphicFramePr>
          <p:cNvPr id="200" name="Google Shape;200;p27"/>
          <p:cNvGraphicFramePr/>
          <p:nvPr/>
        </p:nvGraphicFramePr>
        <p:xfrm>
          <a:off x="511300" y="16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1160200"/>
                <a:gridCol w="1160200"/>
                <a:gridCol w="1160200"/>
                <a:gridCol w="1160200"/>
                <a:gridCol w="1160200"/>
                <a:gridCol w="1160200"/>
                <a:gridCol w="1160200"/>
              </a:tblGrid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Dataset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DT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RF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SVM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NB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LR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SCRDR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Iris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0.97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Wine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0.94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0.72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Mushroom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0.95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WDBC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0.95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0.96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0.97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0.96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0.97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0.84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Titanic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0.78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0.8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0.82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0.78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0.8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0.82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Adult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0.81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0.85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0.84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0.34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0.84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0.74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Heart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0.75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0.87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0.9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0.85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0.89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0.56</a:t>
                      </a:r>
                      <a:endParaRPr b="1" i="1" sz="18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727650" y="230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Interactive </a:t>
            </a:r>
            <a:r>
              <a:rPr lang="en" sz="3000"/>
              <a:t>SCRDR</a:t>
            </a:r>
            <a:endParaRPr sz="3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0" y="49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SCRDR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95100" y="1441200"/>
            <a:ext cx="8483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i="1" lang="en" sz="1600">
                <a:solidFill>
                  <a:srgbClr val="000000"/>
                </a:solidFill>
              </a:rPr>
              <a:t>Build Mode</a:t>
            </a:r>
            <a:endParaRPr i="1" sz="16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 sz="1400">
                <a:solidFill>
                  <a:srgbClr val="000000"/>
                </a:solidFill>
              </a:rPr>
              <a:t>Script reads each row. On error, prompts: feature, operator, value</a:t>
            </a:r>
            <a:endParaRPr i="1" sz="14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i="1" lang="en" sz="1600">
                <a:solidFill>
                  <a:srgbClr val="000000"/>
                </a:solidFill>
              </a:rPr>
              <a:t>Save &amp; Resume</a:t>
            </a:r>
            <a:endParaRPr i="1" sz="16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 sz="1400">
                <a:solidFill>
                  <a:srgbClr val="000000"/>
                </a:solidFill>
              </a:rPr>
              <a:t>Tree saved to JSON after every rule</a:t>
            </a:r>
            <a:endParaRPr i="1" sz="14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i="1" lang="en" sz="1600">
                <a:solidFill>
                  <a:srgbClr val="000000"/>
                </a:solidFill>
              </a:rPr>
              <a:t>Test Mode</a:t>
            </a:r>
            <a:endParaRPr i="1" sz="16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 sz="1400">
                <a:solidFill>
                  <a:srgbClr val="000000"/>
                </a:solidFill>
              </a:rPr>
              <a:t>Re-run on same dataset to get classification report.</a:t>
            </a:r>
            <a:endParaRPr i="1" sz="1400">
              <a:solidFill>
                <a:srgbClr val="000000"/>
              </a:solidFill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685800" y="3429000"/>
            <a:ext cx="7521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latin typeface="Lato"/>
                <a:ea typeface="Lato"/>
                <a:cs typeface="Lato"/>
                <a:sym typeface="Lato"/>
              </a:rPr>
              <a:t>Practical Limit: Dataset size, Heart (~300 rows) is fine; Adult (~32k) needs sampling.</a:t>
            </a:r>
            <a:endParaRPr b="1" i="1"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5554975" y="9144000"/>
            <a:ext cx="91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5737850" y="7703825"/>
            <a:ext cx="91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0" y="472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Disease — Rules Built Interactively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0" name="Google Shape;220;p30"/>
          <p:cNvGraphicFramePr/>
          <p:nvPr/>
        </p:nvGraphicFramePr>
        <p:xfrm>
          <a:off x="461963" y="10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600075"/>
                <a:gridCol w="2352675"/>
                <a:gridCol w="1371600"/>
                <a:gridCol w="3895725"/>
              </a:tblGrid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#</a:t>
                      </a:r>
                      <a:endParaRPr b="1"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Rule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Predicts</a:t>
                      </a:r>
                      <a:endParaRPr b="1"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Medical Reasoning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oldpeak &gt; 1.5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 depression — strong ischemia signal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thal == 3 (refinement)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Reversible defect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thalach &gt; 160 (refinement)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High peak HR override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 &gt; 0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Any blocked vessel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exang == 1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Note: rule conclusion may need review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cp == 0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Note: cp=0 is asymptomatic — usually high risk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age &lt; 45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Younger patients lower baseline risk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thalach &gt; 150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Good cardiac response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cp &gt; 0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Disease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Symptomatic chest pain refinement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729450" y="496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Disease - Interactive Tree Structure</a:t>
            </a:r>
            <a:endParaRPr/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125" y="927300"/>
            <a:ext cx="3476126" cy="4216199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" name="Google Shape;227;p31"/>
          <p:cNvSpPr txBox="1"/>
          <p:nvPr/>
        </p:nvSpPr>
        <p:spPr>
          <a:xfrm>
            <a:off x="466925" y="2297200"/>
            <a:ext cx="3000000" cy="21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293B"/>
                </a:solidFill>
              </a:rPr>
              <a:t>Total rules: 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65A82"/>
                </a:solidFill>
              </a:rPr>
              <a:t>9</a:t>
            </a:r>
            <a:endParaRPr b="1" sz="2200">
              <a:solidFill>
                <a:srgbClr val="065A8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600"/>
              <a:t> 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293B"/>
                </a:solidFill>
              </a:rPr>
              <a:t>Max depth: 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65A82"/>
                </a:solidFill>
              </a:rPr>
              <a:t>6</a:t>
            </a:r>
            <a:endParaRPr b="1" sz="2200">
              <a:solidFill>
                <a:srgbClr val="065A8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600"/>
              <a:t> 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293B"/>
                </a:solidFill>
              </a:rPr>
              <a:t>Conclusion balance: 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" sz="1200">
                <a:solidFill>
                  <a:srgbClr val="065A82"/>
                </a:solidFill>
              </a:rPr>
              <a:t>5 × No disease  /  4 × Disease</a:t>
            </a:r>
            <a:endParaRPr b="1" sz="1200">
              <a:solidFill>
                <a:srgbClr val="065A82"/>
              </a:solidFill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224125" y="1464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65A82"/>
                </a:solidFill>
              </a:rPr>
              <a:t>Tree Statistics</a:t>
            </a:r>
            <a:endParaRPr b="1">
              <a:solidFill>
                <a:srgbClr val="065A8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0" y="496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Adult Dataset - Interactive Build Approach</a:t>
            </a:r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366800" y="1211725"/>
            <a:ext cx="76887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rgbClr val="000000"/>
                </a:solidFill>
              </a:rPr>
              <a:t>Adult has ~ 32,000 rows, too many for one-by-one prompts</a:t>
            </a:r>
            <a:endParaRPr b="1" i="1">
              <a:solidFill>
                <a:srgbClr val="000000"/>
              </a:solidFill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530825" y="2078425"/>
            <a:ext cx="696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tree on adult_small.csv — 200 rows of each class (400 total).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Tested on the full 32,561-row dataset to check generalization.</a:t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444594" y="1610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65A82"/>
                </a:solidFill>
              </a:rPr>
              <a:t>Solution: balanced sample</a:t>
            </a:r>
            <a:endParaRPr b="1">
              <a:solidFill>
                <a:srgbClr val="065A82"/>
              </a:solidFill>
            </a:endParaRPr>
          </a:p>
        </p:txBody>
      </p:sp>
      <p:graphicFrame>
        <p:nvGraphicFramePr>
          <p:cNvPr id="237" name="Google Shape;237;p32"/>
          <p:cNvGraphicFramePr/>
          <p:nvPr/>
        </p:nvGraphicFramePr>
        <p:xfrm>
          <a:off x="457200" y="276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2752725"/>
                <a:gridCol w="1495425"/>
                <a:gridCol w="3981450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Rule Entered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Conclusion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Reasoning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capital.gain &gt; 5000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&gt;50K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Capital gains nearly always = high earner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education.num &gt; 12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&gt;50K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Bachelor's degree and above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marital.status == Married-civ-spouse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&lt;=50K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(Note: this conclusion needs review)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hours.per.week &gt; 45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&lt;=50K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Refinement under marital path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age &lt; 28 / age &gt; 60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&lt;=50K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Young or near-retirement earners</a:t>
                      </a:r>
                      <a:endParaRPr sz="11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Adult Tree Structure</a:t>
            </a:r>
            <a:endParaRPr/>
          </a:p>
        </p:txBody>
      </p:sp>
      <p:pic>
        <p:nvPicPr>
          <p:cNvPr id="243" name="Google Shape;2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395" y="535200"/>
            <a:ext cx="3302055" cy="4608301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33"/>
          <p:cNvSpPr txBox="1"/>
          <p:nvPr/>
        </p:nvSpPr>
        <p:spPr>
          <a:xfrm>
            <a:off x="437175" y="1300750"/>
            <a:ext cx="34398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Setting the rules  (8 rules) for adult dataset was done by using  balanced sampled dataset.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Take 200 rows for each class to create a balanced 400 rows sample subset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506025" y="2571750"/>
            <a:ext cx="3302100" cy="10314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65A82"/>
                </a:solidFill>
              </a:rPr>
              <a:t>sample</a:t>
            </a:r>
            <a:r>
              <a:rPr lang="en" sz="1100"/>
              <a:t> sample 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/>
              <a:t> pd</a:t>
            </a:r>
            <a:r>
              <a:rPr lang="en" sz="1100">
                <a:solidFill>
                  <a:srgbClr val="D3D7DE"/>
                </a:solidFill>
              </a:rPr>
              <a:t>.</a:t>
            </a:r>
            <a:r>
              <a:rPr lang="en" sz="1100"/>
              <a:t>concat</a:t>
            </a:r>
            <a:r>
              <a:rPr lang="en" sz="1100">
                <a:solidFill>
                  <a:srgbClr val="D3D7DE"/>
                </a:solidFill>
              </a:rPr>
              <a:t>([</a:t>
            </a:r>
            <a:r>
              <a:rPr lang="en" sz="1100"/>
              <a:t> df</a:t>
            </a:r>
            <a:r>
              <a:rPr lang="en" sz="1100">
                <a:solidFill>
                  <a:srgbClr val="D3D7DE"/>
                </a:solidFill>
              </a:rPr>
              <a:t>[</a:t>
            </a:r>
            <a:r>
              <a:rPr lang="en" sz="1100"/>
              <a:t>df</a:t>
            </a:r>
            <a:r>
              <a:rPr lang="en" sz="1100">
                <a:solidFill>
                  <a:srgbClr val="D3D7DE"/>
                </a:solidFill>
              </a:rPr>
              <a:t>[</a:t>
            </a:r>
            <a:r>
              <a:rPr lang="en" sz="1100">
                <a:solidFill>
                  <a:srgbClr val="9BE963"/>
                </a:solidFill>
              </a:rPr>
              <a:t>'income'</a:t>
            </a:r>
            <a:r>
              <a:rPr lang="en" sz="1100">
                <a:solidFill>
                  <a:srgbClr val="D3D7DE"/>
                </a:solidFill>
              </a:rPr>
              <a:t>]</a:t>
            </a:r>
            <a:r>
              <a:rPr lang="en" sz="1100"/>
              <a:t> </a:t>
            </a:r>
            <a:r>
              <a:rPr lang="en" sz="1100">
                <a:solidFill>
                  <a:srgbClr val="EAECF0"/>
                </a:solidFill>
              </a:rPr>
              <a:t>==</a:t>
            </a:r>
            <a:r>
              <a:rPr lang="en" sz="1100"/>
              <a:t> </a:t>
            </a:r>
            <a:r>
              <a:rPr lang="en" sz="1100">
                <a:solidFill>
                  <a:srgbClr val="9BE963"/>
                </a:solidFill>
              </a:rPr>
              <a:t>'&lt;=50K'</a:t>
            </a:r>
            <a:r>
              <a:rPr lang="en" sz="1100">
                <a:solidFill>
                  <a:srgbClr val="D3D7DE"/>
                </a:solidFill>
              </a:rPr>
              <a:t>].</a:t>
            </a:r>
            <a:r>
              <a:rPr lang="en" sz="1100"/>
              <a:t>sample</a:t>
            </a:r>
            <a:r>
              <a:rPr lang="en" sz="1100">
                <a:solidFill>
                  <a:srgbClr val="D3D7DE"/>
                </a:solidFill>
              </a:rPr>
              <a:t>(</a:t>
            </a:r>
            <a:r>
              <a:rPr lang="en" sz="1100"/>
              <a:t>n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>
                <a:solidFill>
                  <a:srgbClr val="5EEDED"/>
                </a:solidFill>
              </a:rPr>
              <a:t>200</a:t>
            </a:r>
            <a:r>
              <a:rPr lang="en" sz="1100">
                <a:solidFill>
                  <a:srgbClr val="D3D7DE"/>
                </a:solidFill>
              </a:rPr>
              <a:t>,</a:t>
            </a:r>
            <a:r>
              <a:rPr lang="en" sz="1100"/>
              <a:t> random_state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>
                <a:solidFill>
                  <a:srgbClr val="5EEDED"/>
                </a:solidFill>
              </a:rPr>
              <a:t>42</a:t>
            </a:r>
            <a:r>
              <a:rPr lang="en" sz="1100">
                <a:solidFill>
                  <a:srgbClr val="D3D7DE"/>
                </a:solidFill>
              </a:rPr>
              <a:t>),</a:t>
            </a:r>
            <a:r>
              <a:rPr lang="en" sz="1100"/>
              <a:t> df</a:t>
            </a:r>
            <a:r>
              <a:rPr lang="en" sz="1100">
                <a:solidFill>
                  <a:srgbClr val="D3D7DE"/>
                </a:solidFill>
              </a:rPr>
              <a:t>[</a:t>
            </a:r>
            <a:r>
              <a:rPr lang="en" sz="1100"/>
              <a:t>df</a:t>
            </a:r>
            <a:r>
              <a:rPr lang="en" sz="1100">
                <a:solidFill>
                  <a:srgbClr val="D3D7DE"/>
                </a:solidFill>
              </a:rPr>
              <a:t>[</a:t>
            </a:r>
            <a:r>
              <a:rPr lang="en" sz="1100">
                <a:solidFill>
                  <a:srgbClr val="9BE963"/>
                </a:solidFill>
              </a:rPr>
              <a:t>'income'</a:t>
            </a:r>
            <a:r>
              <a:rPr lang="en" sz="1100">
                <a:solidFill>
                  <a:srgbClr val="D3D7DE"/>
                </a:solidFill>
              </a:rPr>
              <a:t>]</a:t>
            </a:r>
            <a:r>
              <a:rPr lang="en" sz="1100"/>
              <a:t> </a:t>
            </a:r>
            <a:r>
              <a:rPr lang="en" sz="1100">
                <a:solidFill>
                  <a:srgbClr val="EAECF0"/>
                </a:solidFill>
              </a:rPr>
              <a:t>==</a:t>
            </a:r>
            <a:r>
              <a:rPr lang="en" sz="1100"/>
              <a:t> </a:t>
            </a:r>
            <a:r>
              <a:rPr lang="en" sz="1100">
                <a:solidFill>
                  <a:srgbClr val="9BE963"/>
                </a:solidFill>
              </a:rPr>
              <a:t>'&gt;50K'</a:t>
            </a:r>
            <a:r>
              <a:rPr lang="en" sz="1100">
                <a:solidFill>
                  <a:srgbClr val="D3D7DE"/>
                </a:solidFill>
              </a:rPr>
              <a:t>].</a:t>
            </a:r>
            <a:r>
              <a:rPr lang="en" sz="1100"/>
              <a:t>sample</a:t>
            </a:r>
            <a:r>
              <a:rPr lang="en" sz="1100">
                <a:solidFill>
                  <a:srgbClr val="D3D7DE"/>
                </a:solidFill>
              </a:rPr>
              <a:t>(</a:t>
            </a:r>
            <a:r>
              <a:rPr lang="en" sz="1100"/>
              <a:t>n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>
                <a:solidFill>
                  <a:srgbClr val="5EEDED"/>
                </a:solidFill>
              </a:rPr>
              <a:t>200</a:t>
            </a:r>
            <a:r>
              <a:rPr lang="en" sz="1100">
                <a:solidFill>
                  <a:srgbClr val="D3D7DE"/>
                </a:solidFill>
              </a:rPr>
              <a:t>,</a:t>
            </a:r>
            <a:r>
              <a:rPr lang="en" sz="1100"/>
              <a:t> random_state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>
                <a:solidFill>
                  <a:srgbClr val="5EEDED"/>
                </a:solidFill>
              </a:rPr>
              <a:t>42</a:t>
            </a:r>
            <a:r>
              <a:rPr lang="en" sz="1100">
                <a:solidFill>
                  <a:srgbClr val="D3D7DE"/>
                </a:solidFill>
              </a:rPr>
              <a:t>)</a:t>
            </a:r>
            <a:r>
              <a:rPr lang="en" sz="1100"/>
              <a:t> </a:t>
            </a:r>
            <a:r>
              <a:rPr lang="en" sz="1100">
                <a:solidFill>
                  <a:srgbClr val="D3D7DE"/>
                </a:solidFill>
              </a:rPr>
              <a:t>]).</a:t>
            </a:r>
            <a:r>
              <a:rPr lang="en" sz="1100"/>
              <a:t>sample</a:t>
            </a:r>
            <a:r>
              <a:rPr lang="en" sz="1100">
                <a:solidFill>
                  <a:srgbClr val="D3D7DE"/>
                </a:solidFill>
              </a:rPr>
              <a:t>(</a:t>
            </a:r>
            <a:r>
              <a:rPr lang="en" sz="1100"/>
              <a:t>frac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>
                <a:solidFill>
                  <a:srgbClr val="5EEDED"/>
                </a:solidFill>
              </a:rPr>
              <a:t>1</a:t>
            </a:r>
            <a:r>
              <a:rPr lang="en" sz="1100">
                <a:solidFill>
                  <a:srgbClr val="D3D7DE"/>
                </a:solidFill>
              </a:rPr>
              <a:t>,</a:t>
            </a:r>
            <a:r>
              <a:rPr lang="en" sz="1100"/>
              <a:t> random_state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>
                <a:solidFill>
                  <a:srgbClr val="5EEDED"/>
                </a:solidFill>
              </a:rPr>
              <a:t>42</a:t>
            </a:r>
            <a:r>
              <a:rPr lang="en" sz="1100">
                <a:solidFill>
                  <a:srgbClr val="D3D7DE"/>
                </a:solidFill>
              </a:rPr>
              <a:t>).</a:t>
            </a:r>
            <a:r>
              <a:rPr lang="en" sz="1100"/>
              <a:t>reset_index</a:t>
            </a:r>
            <a:r>
              <a:rPr lang="en" sz="1100">
                <a:solidFill>
                  <a:srgbClr val="D3D7DE"/>
                </a:solidFill>
              </a:rPr>
              <a:t>(</a:t>
            </a:r>
            <a:r>
              <a:rPr lang="en" sz="1100"/>
              <a:t>drop</a:t>
            </a:r>
            <a:r>
              <a:rPr lang="en" sz="1100">
                <a:solidFill>
                  <a:srgbClr val="EAECF0"/>
                </a:solidFill>
              </a:rPr>
              <a:t>=</a:t>
            </a:r>
            <a:r>
              <a:rPr lang="en" sz="1100">
                <a:solidFill>
                  <a:srgbClr val="5EEDED"/>
                </a:solidFill>
              </a:rPr>
              <a:t>True</a:t>
            </a:r>
            <a:r>
              <a:rPr lang="en" sz="1100">
                <a:solidFill>
                  <a:srgbClr val="D3D7DE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642850" y="553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Final Comparison — All Three Approaches</a:t>
            </a:r>
            <a:endParaRPr>
              <a:solidFill>
                <a:srgbClr val="065A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 txBox="1"/>
          <p:nvPr>
            <p:ph idx="1" type="body"/>
          </p:nvPr>
        </p:nvSpPr>
        <p:spPr>
          <a:xfrm>
            <a:off x="727650" y="3750475"/>
            <a:ext cx="76887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Interactive RDR is sensitive to </a:t>
            </a:r>
            <a:r>
              <a:rPr b="1" lang="en" sz="12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rule-entry mistakes</a:t>
            </a:r>
            <a:r>
              <a:rPr lang="en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when prompted on one row, the user may pick a conclusion that fits that single row but inverts the rule's general meaning. Two such cases were found in this project (</a:t>
            </a:r>
            <a:r>
              <a:rPr lang="en" sz="1200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cp == 0</a:t>
            </a:r>
            <a:r>
              <a:rPr lang="en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in Heart, </a:t>
            </a:r>
            <a:r>
              <a:rPr lang="en" sz="1200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marital == Married-civ-spouse</a:t>
            </a:r>
            <a:r>
              <a:rPr lang="en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in Adult). This is a teaching point: pure case-by-case knowledge acquisition needs cross-checking against general domain priors.</a:t>
            </a:r>
            <a:endParaRPr sz="12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2" name="Google Shape;252;p34"/>
          <p:cNvGraphicFramePr/>
          <p:nvPr/>
        </p:nvGraphicFramePr>
        <p:xfrm>
          <a:off x="197938" y="131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{D7D722BF-584B-4510-AF00-2F88307EC76B}</a:tableStyleId>
              </a:tblPr>
              <a:tblGrid>
                <a:gridCol w="1838950"/>
                <a:gridCol w="2035975"/>
                <a:gridCol w="2154200"/>
                <a:gridCol w="2719000"/>
              </a:tblGrid>
              <a:tr h="53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Dataset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Best ML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SCRDR Auto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SCRDR Interactive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Heart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0.90 (SVM)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D97706"/>
                          </a:solidFill>
                        </a:rPr>
                        <a:t>0.56</a:t>
                      </a:r>
                      <a:endParaRPr b="1" sz="1200">
                        <a:solidFill>
                          <a:srgbClr val="D97706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200">
                          <a:solidFill>
                            <a:srgbClr val="065A82"/>
                          </a:solidFill>
                        </a:rPr>
                        <a:t>0.73</a:t>
                      </a:r>
                      <a:endParaRPr i="1" sz="1200">
                        <a:solidFill>
                          <a:srgbClr val="065A82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Adult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0.85 (RF)</a:t>
                      </a:r>
                      <a:endParaRPr b="1" sz="1200"/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293B"/>
                          </a:solidFill>
                        </a:rPr>
                        <a:t>0.74</a:t>
                      </a:r>
                      <a:endParaRPr b="1"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200">
                          <a:solidFill>
                            <a:srgbClr val="065A82"/>
                          </a:solidFill>
                        </a:rPr>
                        <a:t>0.73 (on sample set)</a:t>
                      </a:r>
                      <a:endParaRPr b="1" i="1" sz="1200">
                        <a:solidFill>
                          <a:srgbClr val="065A82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200">
                          <a:solidFill>
                            <a:srgbClr val="065A82"/>
                          </a:solidFill>
                        </a:rPr>
                        <a:t>0.56 (on complete set)</a:t>
                      </a:r>
                      <a:endParaRPr b="1" i="1" sz="1200">
                        <a:solidFill>
                          <a:srgbClr val="065A82"/>
                        </a:solidFill>
                      </a:endParaRPr>
                    </a:p>
                  </a:txBody>
                  <a:tcPr marT="91425" marB="91425" marR="91425" marL="91425">
                    <a:lnL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34"/>
          <p:cNvSpPr txBox="1"/>
          <p:nvPr/>
        </p:nvSpPr>
        <p:spPr>
          <a:xfrm>
            <a:off x="357175" y="3286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65A82"/>
                </a:solidFill>
              </a:rPr>
              <a:t>Key Insight from the Experiment</a:t>
            </a:r>
            <a:endParaRPr b="1">
              <a:solidFill>
                <a:srgbClr val="065A8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35"/>
          <p:cNvGrpSpPr/>
          <p:nvPr/>
        </p:nvGrpSpPr>
        <p:grpSpPr>
          <a:xfrm>
            <a:off x="-2136766" y="-1913136"/>
            <a:ext cx="3712921" cy="3150218"/>
            <a:chOff x="345395" y="881887"/>
            <a:chExt cx="5299630" cy="1732317"/>
          </a:xfrm>
        </p:grpSpPr>
        <p:sp>
          <p:nvSpPr>
            <p:cNvPr id="260" name="Google Shape;26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5"/>
            <p:cNvSpPr/>
            <p:nvPr/>
          </p:nvSpPr>
          <p:spPr>
            <a:xfrm rot="-5400000">
              <a:off x="881946" y="718387"/>
              <a:ext cx="45900" cy="3729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5"/>
            <p:cNvSpPr/>
            <p:nvPr/>
          </p:nvSpPr>
          <p:spPr>
            <a:xfrm rot="-5400000">
              <a:off x="510395" y="716888"/>
              <a:ext cx="45900" cy="3759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35"/>
          <p:cNvSpPr txBox="1"/>
          <p:nvPr>
            <p:ph type="title"/>
          </p:nvPr>
        </p:nvSpPr>
        <p:spPr>
          <a:xfrm>
            <a:off x="476250" y="487800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4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  <a:endParaRPr b="1" sz="224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65" name="Google Shape;265;p35"/>
          <p:cNvGrpSpPr/>
          <p:nvPr/>
        </p:nvGrpSpPr>
        <p:grpSpPr>
          <a:xfrm>
            <a:off x="476250" y="1333500"/>
            <a:ext cx="8191500" cy="3048000"/>
            <a:chOff x="476250" y="1333500"/>
            <a:chExt cx="8191500" cy="3048000"/>
          </a:xfrm>
        </p:grpSpPr>
        <p:sp>
          <p:nvSpPr>
            <p:cNvPr id="266" name="Google Shape;266;p35"/>
            <p:cNvSpPr/>
            <p:nvPr/>
          </p:nvSpPr>
          <p:spPr>
            <a:xfrm>
              <a:off x="476250" y="133350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5"/>
            <p:cNvSpPr txBox="1"/>
            <p:nvPr/>
          </p:nvSpPr>
          <p:spPr>
            <a:xfrm>
              <a:off x="476250" y="133350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9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59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8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Performance Patterns</a:t>
              </a:r>
              <a:endParaRPr b="1" sz="148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SCRDR shows clear performance characteristics across different types of datasets:</a:t>
              </a:r>
              <a:endParaRPr sz="10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0274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971"/>
                <a:buFont typeface="Lato"/>
                <a:buChar char="●"/>
              </a:pPr>
              <a:r>
                <a:rPr b="1" lang="en" sz="971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Matches ML:</a:t>
              </a:r>
              <a:r>
                <a:rPr lang="en" sz="97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Rule-friendly data like Iris, Mushroom, and Titanic.</a:t>
              </a:r>
              <a:endParaRPr sz="97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0274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971"/>
                <a:buFont typeface="Lato"/>
                <a:buChar char="●"/>
              </a:pPr>
              <a:r>
                <a:rPr b="1" lang="en" sz="971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Lags:</a:t>
              </a:r>
              <a:r>
                <a:rPr lang="en" sz="97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Continuous medical/chemical data such as Wine, WDBC, and Heart.</a:t>
              </a:r>
              <a:endParaRPr sz="97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8" name="Google Shape;268;p35"/>
            <p:cNvSpPr/>
            <p:nvPr/>
          </p:nvSpPr>
          <p:spPr>
            <a:xfrm>
              <a:off x="3238500" y="133350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5"/>
            <p:cNvSpPr txBox="1"/>
            <p:nvPr/>
          </p:nvSpPr>
          <p:spPr>
            <a:xfrm>
              <a:off x="3238500" y="133350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9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59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8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Expert Rule Boosting</a:t>
              </a:r>
              <a:endParaRPr b="1" sz="148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Expert-defined rules can significantly improve weak auto-induction results:</a:t>
              </a:r>
              <a:endParaRPr sz="10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0274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971"/>
                <a:buFont typeface="Lato"/>
                <a:buChar char="●"/>
              </a:pPr>
              <a:r>
                <a:rPr lang="en" sz="97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 stronger initial rule (e.g., </a:t>
              </a:r>
              <a:r>
                <a:rPr lang="en" sz="971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oldpeak &gt; 1.5</a:t>
              </a:r>
              <a:r>
                <a:rPr lang="en" sz="97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) for Heart dataset...</a:t>
              </a:r>
              <a:endParaRPr sz="97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0274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971"/>
                <a:buFont typeface="Lato"/>
                <a:buChar char="●"/>
              </a:pPr>
              <a:r>
                <a:rPr lang="en" sz="97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...resulted in a </a:t>
              </a:r>
              <a:r>
                <a:rPr b="1" lang="en" sz="97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9-rule tree</a:t>
              </a:r>
              <a:r>
                <a:rPr lang="en" sz="97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, compared to the 24-rule auto version.</a:t>
              </a:r>
              <a:endParaRPr sz="97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0" name="Google Shape;270;p35"/>
            <p:cNvSpPr/>
            <p:nvPr/>
          </p:nvSpPr>
          <p:spPr>
            <a:xfrm>
              <a:off x="6000750" y="133350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7ED"/>
            </a:solidFill>
            <a:ln cap="flat" cmpd="sng" w="9525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5"/>
            <p:cNvSpPr txBox="1"/>
            <p:nvPr/>
          </p:nvSpPr>
          <p:spPr>
            <a:xfrm>
              <a:off x="6000750" y="133350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EB5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800">
                <a:solidFill>
                  <a:srgbClr val="EB5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Real-World Risks</a:t>
              </a:r>
              <a:endParaRPr b="1" sz="16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Interactive RDR processes introduce specific human-centric risks: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lang="en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Single-row prompts may lead to </a:t>
              </a:r>
              <a:r>
                <a:rPr b="1" lang="en" sz="1050">
                  <a:solidFill>
                    <a:srgbClr val="C2410C"/>
                  </a:solidFill>
                  <a:latin typeface="Lato"/>
                  <a:ea typeface="Lato"/>
                  <a:cs typeface="Lato"/>
                  <a:sym typeface="Lato"/>
                </a:rPr>
                <a:t>inverted rule conclusions</a:t>
              </a:r>
              <a:r>
                <a:rPr lang="en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b="1" lang="en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Mitigation:</a:t>
              </a:r>
              <a:r>
                <a:rPr lang="en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Domain priors must be used to cross-check each rule entry.</a:t>
              </a:r>
              <a:endParaRPr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674700" y="3552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77" name="Google Shape;277;p36"/>
          <p:cNvSpPr txBox="1"/>
          <p:nvPr>
            <p:ph idx="1" type="body"/>
          </p:nvPr>
        </p:nvSpPr>
        <p:spPr>
          <a:xfrm>
            <a:off x="727650" y="12906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Adult Income Dataset (CCO Public Domain)-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https://www.kaggle.com/datasets/uciml/adult-census-income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Heart Disease Dataset (CCO Public Domain)-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https://www.kaggle.com/datasets/johnsmith88/heart-disease-dataset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727650" y="2189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Thank You!</a:t>
            </a:r>
            <a:endParaRPr sz="36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