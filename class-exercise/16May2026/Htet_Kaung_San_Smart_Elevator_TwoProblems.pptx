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8"/>
  </p:notesMasterIdLst>
  <p:sldIdLst>
    <p:sldId id="262" r:id="rId2"/>
    <p:sldId id="263" r:id="rId3"/>
    <p:sldId id="268" r:id="rId4"/>
    <p:sldId id="269" r:id="rId5"/>
    <p:sldId id="266" r:id="rId6"/>
    <p:sldId id="273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7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216" y="1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86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AccentBar"/>
          <p:cNvSpPr>
            <a:spLocks noGrp="1"/>
          </p:cNvSpPr>
          <p:nvPr/>
        </p:nvSpPr>
        <p:spPr>
          <a:xfrm>
            <a:off x="0" y="5080000"/>
            <a:ext cx="914400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C8D8E8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C9B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7498080" y="0"/>
            <a:ext cx="54864" cy="5143500"/>
          </a:xfrm>
          <a:prstGeom prst="rect">
            <a:avLst/>
          </a:prstGeom>
          <a:solidFill>
            <a:srgbClr val="0F233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7726680" y="0"/>
            <a:ext cx="54864" cy="5143500"/>
          </a:xfrm>
          <a:prstGeom prst="rect">
            <a:avLst/>
          </a:prstGeom>
          <a:solidFill>
            <a:srgbClr val="0F233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955280" y="0"/>
            <a:ext cx="54864" cy="5143500"/>
          </a:xfrm>
          <a:prstGeom prst="rect">
            <a:avLst/>
          </a:prstGeom>
          <a:solidFill>
            <a:srgbClr val="0F233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8183880" y="0"/>
            <a:ext cx="54864" cy="5143500"/>
          </a:xfrm>
          <a:prstGeom prst="rect">
            <a:avLst/>
          </a:prstGeom>
          <a:solidFill>
            <a:srgbClr val="0F233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8412480" y="0"/>
            <a:ext cx="54864" cy="5143500"/>
          </a:xfrm>
          <a:prstGeom prst="rect">
            <a:avLst/>
          </a:prstGeom>
          <a:solidFill>
            <a:srgbClr val="0F233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8641080" y="0"/>
            <a:ext cx="54864" cy="5143500"/>
          </a:xfrm>
          <a:prstGeom prst="rect">
            <a:avLst/>
          </a:prstGeom>
          <a:solidFill>
            <a:srgbClr val="0F233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8869680" y="0"/>
            <a:ext cx="54864" cy="5143500"/>
          </a:xfrm>
          <a:prstGeom prst="rect">
            <a:avLst/>
          </a:prstGeom>
          <a:solidFill>
            <a:srgbClr val="0F233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9098280" y="0"/>
            <a:ext cx="54864" cy="5143500"/>
          </a:xfrm>
          <a:prstGeom prst="rect">
            <a:avLst/>
          </a:prstGeom>
          <a:solidFill>
            <a:srgbClr val="0F233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6217920" y="-1097280"/>
            <a:ext cx="4754880" cy="4754880"/>
          </a:xfrm>
          <a:prstGeom prst="ellipse">
            <a:avLst/>
          </a:prstGeom>
          <a:solidFill>
            <a:srgbClr val="00C9B8">
              <a:alpha val="9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0C9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ELEVATOR DISPATCH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91440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Problems.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Smart System.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65760" y="29718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 Vision &amp; AI can solve the Missed Batch problem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Dangerous Door-Close problem in large buildings.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2286000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2926080" cy="640080"/>
          </a:xfrm>
          <a:prstGeom prst="rect">
            <a:avLst/>
          </a:prstGeom>
          <a:solidFill>
            <a:srgbClr val="1A2E45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475488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 —  The Missed Batch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29000" y="4023360"/>
            <a:ext cx="3200400" cy="640080"/>
          </a:xfrm>
          <a:prstGeom prst="rect">
            <a:avLst/>
          </a:prstGeom>
          <a:solidFill>
            <a:srgbClr val="1A2E4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3538728" y="4114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 —  The Dangerous Close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039805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0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Missed Batch Scenario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914400" cy="3520440"/>
          </a:xfrm>
          <a:prstGeom prst="rect">
            <a:avLst/>
          </a:prstGeom>
          <a:solidFill>
            <a:srgbClr val="0F2336"/>
          </a:solidFill>
          <a:ln w="12700">
            <a:solidFill>
              <a:srgbClr val="5E7A9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914400" cy="36576"/>
          </a:xfrm>
          <a:prstGeom prst="rect">
            <a:avLst/>
          </a:prstGeom>
          <a:solidFill>
            <a:srgbClr val="5E7A96">
              <a:alpha val="5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530352" y="13167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914400" cy="36576"/>
          </a:xfrm>
          <a:prstGeom prst="rect">
            <a:avLst/>
          </a:prstGeom>
          <a:solidFill>
            <a:srgbClr val="5E7A96">
              <a:alpha val="5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530352" y="26151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3611880"/>
            <a:ext cx="914400" cy="36576"/>
          </a:xfrm>
          <a:prstGeom prst="rect">
            <a:avLst/>
          </a:prstGeom>
          <a:solidFill>
            <a:srgbClr val="5E7A96">
              <a:alpha val="5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30352" y="36667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304288"/>
            <a:ext cx="786384" cy="384048"/>
          </a:xfrm>
          <a:prstGeom prst="rect">
            <a:avLst/>
          </a:prstGeom>
          <a:solidFill>
            <a:srgbClr val="00C9B8">
              <a:alpha val="80000"/>
            </a:srgbClr>
          </a:solidFill>
          <a:ln w="12700">
            <a:solidFill>
              <a:srgbClr val="00C9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566928" y="2304288"/>
            <a:ext cx="786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" y="3456432"/>
            <a:ext cx="786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645920" y="1188720"/>
            <a:ext cx="7132320" cy="841248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1645920" y="1188720"/>
            <a:ext cx="54864" cy="841248"/>
          </a:xfrm>
          <a:prstGeom prst="rect">
            <a:avLst/>
          </a:prstGeom>
          <a:solidFill>
            <a:srgbClr val="00C9B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737360" y="12618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86000" y="126187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reaches Floor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160020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board. Doors close. Elevator commits to heading up toward Floor 30.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0" y="2148840"/>
            <a:ext cx="7132320" cy="841248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1645920" y="2148840"/>
            <a:ext cx="54864" cy="8412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1737360" y="22219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286000" y="22219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batch arrives at Floor 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256032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group arrives at Floor 1 just after doors close and presses the call button.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45920" y="3108960"/>
            <a:ext cx="7132320" cy="841248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1645920" y="3108960"/>
            <a:ext cx="54864" cy="841248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1737360" y="31821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286000" y="318211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ignores Floor 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86000" y="35204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1 was not pre-registered. Elevator skips it — even with empty cabin space.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45920" y="4069080"/>
            <a:ext cx="7132320" cy="841248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1645920" y="4069080"/>
            <a:ext cx="54864" cy="841248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1737360" y="4142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286000" y="414223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30-floor round trip to wait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286000" y="448056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FE8"/>
                </a:solidFill>
                <a:latin typeface="Calibri" pitchFamily="34" charset="0"/>
              </a:rPr>
              <a:t>Group waits for the elevator to travel 28 floors up, serve riders, then return. Minimum 5–10 minutes wasted in high-rise buildings.</a:t>
            </a:r>
          </a:p>
        </p:txBody>
      </p:sp>
    </p:spTree>
    <p:extLst>
      <p:ext uri="{BB962C8B-B14F-4D97-AF65-F5344CB8AC3E}">
        <p14:creationId xmlns:p14="http://schemas.microsoft.com/office/powerpoint/2010/main" val="3448480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Dangerous Door-Close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530352"/>
          </a:xfrm>
          <a:prstGeom prst="rect">
            <a:avLst/>
          </a:prstGeom>
          <a:solidFill>
            <a:srgbClr val="1A2E4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CFE8"/>
                </a:solidFill>
                <a:latin typeface="Calibri" pitchFamily="34" charset="0"/>
              </a:rPr>
              <a:t>Context:  In large high-rise buildings (30F+), odd and even floors often use separate elevator banks. Riders must choose correctly — then race to make it before doors close.</a:t>
            </a:r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8412480" cy="658368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54864" cy="65836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475488" y="190195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9019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identifies correct elevator bank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FE8"/>
                </a:solidFill>
                <a:latin typeface="Calibri" pitchFamily="34" charset="0"/>
              </a:rPr>
              <a:t>In a 30F+ building, odd-floor riders use one bank, even-floor another. This split adds confusion, walking time, and forces quick decisions under pressure.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8412480" cy="658368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365760" y="2615184"/>
            <a:ext cx="54864" cy="65836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475488" y="26700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6700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start closing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96265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existing rider inside presses the close button — intentionally or impatiently — before everyone has boarded.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8412480" cy="658368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54864" cy="658368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475488" y="343814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43814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Latecomers run for the door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7307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rider seeing the doors closing runs toward the elevator. This creates a collision risk and potential injury at the door threshold.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151376"/>
            <a:ext cx="8412480" cy="658368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365760" y="4151376"/>
            <a:ext cx="54864" cy="658368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475488" y="42062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20624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is missed — must wait again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449884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FE8"/>
                </a:solidFill>
                <a:latin typeface="Calibri" pitchFamily="34" charset="0"/>
              </a:rPr>
              <a:t>Even if they avoid injury, they miss the elevator entirely and must wait a full cycle — especially painful in high-traffic peak hours.</a:t>
            </a:r>
          </a:p>
        </p:txBody>
      </p:sp>
    </p:spTree>
    <p:extLst>
      <p:ext uri="{BB962C8B-B14F-4D97-AF65-F5344CB8AC3E}">
        <p14:creationId xmlns:p14="http://schemas.microsoft.com/office/powerpoint/2010/main" val="290989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C9B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0C9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AI Vision System — Two Fixes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457200"/>
          </a:xfrm>
          <a:prstGeom prst="rect">
            <a:avLst/>
          </a:prstGeom>
          <a:solidFill>
            <a:srgbClr val="0F233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B8"/>
                </a:solidFill>
                <a:latin typeface="Calibri" pitchFamily="34" charset="0"/>
              </a:rPr>
              <a:t>Shared Core:  Multi-camera input (lobby + cabin)  →  Computer Vision person detection + occupancy tracking  →  AI dispatch controller</a:t>
            </a:r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4160520" cy="3154680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4160520" cy="54864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502920" y="186537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  —  Dynamic En-Route Stop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340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Cabin camera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596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6"/>
                </a:solidFill>
                <a:latin typeface="Calibri" pitchFamily="34" charset="0"/>
              </a:rPr>
              <a:t>CV model counts passengers inside, computes % occupancy continuously</a:t>
            </a:r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Floor call signal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227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6"/>
                </a:solidFill>
                <a:latin typeface="Calibri" pitchFamily="34" charset="0"/>
              </a:rPr>
              <a:t>AI scans neighbouring floors (above &amp; below current route) for pending calls</a:t>
            </a:r>
          </a:p>
        </p:txBody>
      </p:sp>
      <p:sp>
        <p:nvSpPr>
          <p:cNvPr id="14" name="Text 12"/>
          <p:cNvSpPr/>
          <p:nvPr/>
        </p:nvSpPr>
        <p:spPr>
          <a:xfrm>
            <a:off x="502920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Cost evaluation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858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6"/>
                </a:solidFill>
                <a:latin typeface="Calibri" pitchFamily="34" charset="0"/>
              </a:rPr>
              <a:t>If cabin has capacity AND neighbouring floor is within detour threshold → insert stop; otherwise skip</a:t>
            </a:r>
          </a:p>
        </p:txBody>
      </p:sp>
      <p:sp>
        <p:nvSpPr>
          <p:cNvPr id="16" name="Text 14"/>
          <p:cNvSpPr/>
          <p:nvPr/>
        </p:nvSpPr>
        <p:spPr>
          <a:xfrm>
            <a:off x="502920" y="4233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Result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489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6"/>
                </a:solidFill>
                <a:latin typeface="Calibri" pitchFamily="34" charset="0"/>
              </a:rPr>
              <a:t>Waiting group boards mid-journey. If the current bank is &gt;80% utilised, the controller polls the adjacent odd/even bank and redirects the call if floor parity allows and spare capacity exists.</a:t>
            </a:r>
          </a:p>
        </p:txBody>
      </p:sp>
      <p:sp>
        <p:nvSpPr>
          <p:cNvPr id="18" name="Shape 16"/>
          <p:cNvSpPr/>
          <p:nvPr/>
        </p:nvSpPr>
        <p:spPr>
          <a:xfrm>
            <a:off x="4709160" y="1755648"/>
            <a:ext cx="4069080" cy="3154680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4709160" y="1755648"/>
            <a:ext cx="4069080" cy="548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4846320" y="186537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2  —  Approaching Rider Hold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3408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📷 Lobby camera + CV</a:t>
            </a:r>
          </a:p>
        </p:txBody>
      </p:sp>
      <p:sp>
        <p:nvSpPr>
          <p:cNvPr id="22" name="Text 20"/>
          <p:cNvSpPr/>
          <p:nvPr/>
        </p:nvSpPr>
        <p:spPr>
          <a:xfrm>
            <a:off x="4846320" y="2596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6"/>
                </a:solidFill>
                <a:latin typeface="Calibri" pitchFamily="34" charset="0"/>
              </a:rPr>
              <a:t>Wide-angle camera tracks corridor; CV model classifies each person as 'boarding' or 'passing' based on gait speed, direction &amp; trajectory</a:t>
            </a:r>
          </a:p>
        </p:txBody>
      </p:sp>
      <p:sp>
        <p:nvSpPr>
          <p:cNvPr id="23" name="Text 21"/>
          <p:cNvSpPr/>
          <p:nvPr/>
        </p:nvSpPr>
        <p:spPr>
          <a:xfrm>
            <a:off x="4846320" y="2971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🚫 Door hold</a:t>
            </a:r>
          </a:p>
        </p:txBody>
      </p:sp>
      <p:sp>
        <p:nvSpPr>
          <p:cNvPr id="24" name="Text 22"/>
          <p:cNvSpPr/>
          <p:nvPr/>
        </p:nvSpPr>
        <p:spPr>
          <a:xfrm>
            <a:off x="4846320" y="3227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6"/>
                </a:solidFill>
                <a:latin typeface="Calibri" pitchFamily="34" charset="0"/>
              </a:rPr>
              <a:t>If a 'boarding' rider is detected, close-button signal is suppressed for a grace window (e.g. 4 sec) — then doors close normally</a:t>
            </a:r>
          </a:p>
        </p:txBody>
      </p:sp>
      <p:sp>
        <p:nvSpPr>
          <p:cNvPr id="25" name="Text 23"/>
          <p:cNvSpPr/>
          <p:nvPr/>
        </p:nvSpPr>
        <p:spPr>
          <a:xfrm>
            <a:off x="4846320" y="36027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Rider memory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6"/>
                </a:solidFill>
                <a:latin typeface="Calibri" pitchFamily="34" charset="0"/>
              </a:rPr>
              <a:t>Optional face/gait ID for registered occupants (opt-in). Default: anonymised motion-only — no identity stored</a:t>
            </a:r>
          </a:p>
        </p:txBody>
      </p:sp>
      <p:sp>
        <p:nvSpPr>
          <p:cNvPr id="27" name="Text 25"/>
          <p:cNvSpPr/>
          <p:nvPr/>
        </p:nvSpPr>
        <p:spPr>
          <a:xfrm>
            <a:off x="4846320" y="4233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489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6"/>
                </a:solidFill>
                <a:latin typeface="Calibri" pitchFamily="34" charset="0"/>
              </a:rPr>
              <a:t>Approaching rider boards safely — no running, no collision risk. Privacy trade-offs addressed in detail on next slide.</a:t>
            </a:r>
          </a:p>
        </p:txBody>
      </p:sp>
    </p:spTree>
    <p:extLst>
      <p:ext uri="{BB962C8B-B14F-4D97-AF65-F5344CB8AC3E}">
        <p14:creationId xmlns:p14="http://schemas.microsoft.com/office/powerpoint/2010/main" val="1176845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 2 —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Rider Memory &amp; Hold Logic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1627632" cy="3566160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347472" y="1298448"/>
            <a:ext cx="1627632" cy="54864"/>
          </a:xfrm>
          <a:prstGeom prst="rect">
            <a:avLst/>
          </a:prstGeom>
          <a:solidFill>
            <a:srgbClr val="00C9B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420624" y="14081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" y="1920240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 Cam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0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" y="2523744"/>
            <a:ext cx="1444752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FE8"/>
                </a:solidFill>
                <a:latin typeface="Calibri" pitchFamily="34" charset="0"/>
              </a:rPr>
              <a:t>Wide-angle camera monitors the lobby corridor. CV model tracks all individuals — direction, speed, and movement trajectory.</a:t>
            </a:r>
          </a:p>
        </p:txBody>
      </p:sp>
      <p:sp>
        <p:nvSpPr>
          <p:cNvPr id="10" name="Text 8"/>
          <p:cNvSpPr/>
          <p:nvPr/>
        </p:nvSpPr>
        <p:spPr>
          <a:xfrm>
            <a:off x="1984248" y="274320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12264" y="1298448"/>
            <a:ext cx="1627632" cy="3566160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2112264" y="1298448"/>
            <a:ext cx="1627632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2185416" y="14081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203704" y="1920240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03704" y="2523744"/>
            <a:ext cx="1444752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FE8"/>
                </a:solidFill>
                <a:latin typeface="Calibri" pitchFamily="34" charset="0"/>
              </a:rPr>
              <a:t>CV model predicts boarding intent from gait speed, direction &amp; path — classifies 'likely boarding' vs 'passing through'. No face ID required.</a:t>
            </a:r>
          </a:p>
        </p:txBody>
      </p:sp>
      <p:sp>
        <p:nvSpPr>
          <p:cNvPr id="16" name="Text 14"/>
          <p:cNvSpPr/>
          <p:nvPr/>
        </p:nvSpPr>
        <p:spPr>
          <a:xfrm>
            <a:off x="3749040" y="274320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77056" y="1298448"/>
            <a:ext cx="1627632" cy="3566160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3877056" y="1298448"/>
            <a:ext cx="1627632" cy="548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3950208" y="14081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968496" y="1920240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968496" y="2523744"/>
            <a:ext cx="1444752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FE8"/>
                </a:solidFill>
                <a:latin typeface="Calibri" pitchFamily="34" charset="0"/>
              </a:rPr>
              <a:t>Optional: face/gait recognition for registered occupants. Privacy concern — face recognition requires explicit opt-in consent; motion-only is the default fallback.</a:t>
            </a:r>
          </a:p>
        </p:txBody>
      </p:sp>
      <p:sp>
        <p:nvSpPr>
          <p:cNvPr id="22" name="Text 20"/>
          <p:cNvSpPr/>
          <p:nvPr/>
        </p:nvSpPr>
        <p:spPr>
          <a:xfrm>
            <a:off x="5513832" y="274320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641848" y="1298448"/>
            <a:ext cx="1627632" cy="3566160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5641848" y="1298448"/>
            <a:ext cx="1627632" cy="54864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5715000" y="14081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733288" y="1920240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Button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33288" y="2523744"/>
            <a:ext cx="1444752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approaching rider is detected, the close-button signal is suppressed. Doors remain open for a grace window (e.g. 4 sec).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78624" y="274320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406640" y="1298448"/>
            <a:ext cx="1627632" cy="3566160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>
            <a:off x="7406640" y="1298448"/>
            <a:ext cx="1627632" cy="54864"/>
          </a:xfrm>
          <a:prstGeom prst="rect">
            <a:avLst/>
          </a:prstGeom>
          <a:solidFill>
            <a:srgbClr val="3EC47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7479792" y="14081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498080" y="1920240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3E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498080" y="2523744"/>
            <a:ext cx="1444752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boards safely. No running, no collision risk. Once boarded (or timer expires), doors close normally.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4709160"/>
            <a:ext cx="8412480" cy="292608"/>
          </a:xfrm>
          <a:prstGeom prst="rect">
            <a:avLst/>
          </a:prstGeom>
          <a:solidFill>
            <a:srgbClr val="0F233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475488" y="47274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</a:rPr>
              <a:t>⚠ Privacy: Camera-based prediction inherently raises surveillance concerns. Mitigations: no face data stored, opt-in only, motion vectors anonymised, GDPR/local law compliant by design.</a:t>
            </a:r>
          </a:p>
        </p:txBody>
      </p:sp>
    </p:spTree>
    <p:extLst>
      <p:ext uri="{BB962C8B-B14F-4D97-AF65-F5344CB8AC3E}">
        <p14:creationId xmlns:p14="http://schemas.microsoft.com/office/powerpoint/2010/main" val="325601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 &amp; 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Needed &amp; What We Gain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0" cy="365760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029200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Components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Cabin Camera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6"/>
                </a:solidFill>
                <a:latin typeface="Calibri" pitchFamily="34" charset="0"/>
              </a:rPr>
              <a:t>CV headcount + occupancy tracking; runs on edge node inside cabin</a:t>
            </a:r>
          </a:p>
        </p:txBody>
      </p:sp>
      <p:sp>
        <p:nvSpPr>
          <p:cNvPr id="10" name="Text 8"/>
          <p:cNvSpPr/>
          <p:nvPr/>
        </p:nvSpPr>
        <p:spPr>
          <a:xfrm>
            <a:off x="502920" y="23408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Lobby Camera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151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6"/>
                </a:solidFill>
                <a:latin typeface="Calibri" pitchFamily="34" charset="0"/>
              </a:rPr>
              <a:t>Wide-angle; tracks individuals, predicts boarding intent via speed &amp; trajectory</a:t>
            </a:r>
          </a:p>
        </p:txBody>
      </p:sp>
      <p:sp>
        <p:nvSpPr>
          <p:cNvPr id="12" name="Text 10"/>
          <p:cNvSpPr/>
          <p:nvPr/>
        </p:nvSpPr>
        <p:spPr>
          <a:xfrm>
            <a:off x="502920" y="29626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CV + Gait 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2369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6"/>
                </a:solidFill>
                <a:latin typeface="Calibri" pitchFamily="34" charset="0"/>
              </a:rPr>
              <a:t>Classifies boarding intent; opt-in face recognition; anonymised motion fallback</a:t>
            </a:r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Floor Call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858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integration with existing call-button controller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06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AI Dispatch Controller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4805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6"/>
                </a:solidFill>
                <a:latin typeface="Calibri" pitchFamily="34" charset="0"/>
              </a:rPr>
              <a:t>Manages dynamic stops, door hold overrides &amp; odd/even bank re-routing when one bank is overloaded</a:t>
            </a:r>
          </a:p>
        </p:txBody>
      </p:sp>
      <p:sp>
        <p:nvSpPr>
          <p:cNvPr id="18" name="Shape 16"/>
          <p:cNvSpPr/>
          <p:nvPr/>
        </p:nvSpPr>
        <p:spPr>
          <a:xfrm>
            <a:off x="5577840" y="1188720"/>
            <a:ext cx="3200400" cy="347472"/>
          </a:xfrm>
          <a:prstGeom prst="rect">
            <a:avLst/>
          </a:prstGeom>
          <a:solidFill>
            <a:srgbClr val="0F233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650992" y="1225296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— Missed Batch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1572768"/>
            <a:ext cx="3200400" cy="80467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5577840" y="1572768"/>
            <a:ext cx="54864" cy="804672"/>
          </a:xfrm>
          <a:prstGeom prst="rect">
            <a:avLst/>
          </a:prstGeom>
          <a:solidFill>
            <a:srgbClr val="00C9B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5687568" y="16276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60%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687568" y="20482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FE8"/>
                </a:solidFill>
                <a:latin typeface="Calibri" pitchFamily="34" charset="0"/>
              </a:rPr>
              <a:t>Unnecessary full-trip waits (est.)</a:t>
            </a:r>
          </a:p>
        </p:txBody>
      </p:sp>
      <p:sp>
        <p:nvSpPr>
          <p:cNvPr id="24" name="Shape 22"/>
          <p:cNvSpPr/>
          <p:nvPr/>
        </p:nvSpPr>
        <p:spPr>
          <a:xfrm>
            <a:off x="5577840" y="2487168"/>
            <a:ext cx="3200400" cy="80467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5577840" y="2487168"/>
            <a:ext cx="54864" cy="804672"/>
          </a:xfrm>
          <a:prstGeom prst="rect">
            <a:avLst/>
          </a:prstGeom>
          <a:solidFill>
            <a:srgbClr val="3EC47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5687568" y="2542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C4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40%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687568" y="29626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FE8"/>
                </a:solidFill>
                <a:latin typeface="Calibri" pitchFamily="34" charset="0"/>
              </a:rPr>
              <a:t>Cabin utilization (est.)</a:t>
            </a:r>
          </a:p>
        </p:txBody>
      </p:sp>
      <p:sp>
        <p:nvSpPr>
          <p:cNvPr id="28" name="Shape 26"/>
          <p:cNvSpPr/>
          <p:nvPr/>
        </p:nvSpPr>
        <p:spPr>
          <a:xfrm>
            <a:off x="5577840" y="3447288"/>
            <a:ext cx="3200400" cy="347472"/>
          </a:xfrm>
          <a:prstGeom prst="rect">
            <a:avLst/>
          </a:prstGeom>
          <a:solidFill>
            <a:srgbClr val="0F233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5650992" y="3483864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— Dangerous Close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77840" y="3822192"/>
            <a:ext cx="3200400" cy="1051560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5577840" y="3822192"/>
            <a:ext cx="54864" cy="105156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5687568" y="38953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78BFA"/>
                </a:solidFill>
                <a:latin typeface="Georgia" pitchFamily="34" charset="0"/>
              </a:rPr>
              <a:t>↓ 90%</a:t>
            </a:r>
          </a:p>
        </p:txBody>
      </p:sp>
      <p:sp>
        <p:nvSpPr>
          <p:cNvPr id="33" name="Text 31"/>
          <p:cNvSpPr/>
          <p:nvPr/>
        </p:nvSpPr>
        <p:spPr>
          <a:xfrm>
            <a:off x="5687568" y="42793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FE8"/>
                </a:solidFill>
                <a:latin typeface="Calibri" pitchFamily="34" charset="0"/>
              </a:rPr>
              <a:t>Door-close incidents (est.)</a:t>
            </a:r>
          </a:p>
        </p:txBody>
      </p:sp>
      <p:sp>
        <p:nvSpPr>
          <p:cNvPr id="34" name="Text 32"/>
          <p:cNvSpPr/>
          <p:nvPr/>
        </p:nvSpPr>
        <p:spPr>
          <a:xfrm>
            <a:off x="5687568" y="4663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7A96"/>
                </a:solidFill>
                <a:latin typeface="Calibri" pitchFamily="34" charset="0"/>
              </a:rPr>
              <a:t>↓ 35% missed-boarding events (est.) · Works on existing hardware · Minimal retrofit · All figures estimated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5251EF-E9FB-1C66-2BEC-3B176DD61874}"/>
              </a:ext>
            </a:extLst>
          </p:cNvPr>
          <p:cNvSpPr txBox="1"/>
          <p:nvPr/>
        </p:nvSpPr>
        <p:spPr>
          <a:xfrm>
            <a:off x="5400675" y="-11715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35018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9173433035]">
  <a:themeElements>
    <a:clrScheme name="Office">
      <a:dk1>
        <a:srgbClr val="0D1B2A"/>
      </a:dk1>
      <a:lt1>
        <a:srgbClr val="F4F6F9"/>
      </a:lt1>
      <a:dk2>
        <a:srgbClr val="1B3A5C"/>
      </a:dk2>
      <a:lt2>
        <a:srgbClr val="E8EDF4"/>
      </a:lt2>
      <a:accent1>
        <a:srgbClr val="0078D4"/>
      </a:accent1>
      <a:accent2>
        <a:srgbClr val="00C4A7"/>
      </a:accent2>
      <a:accent3>
        <a:srgbClr val="FF6B35"/>
      </a:accent3>
      <a:accent4>
        <a:srgbClr val="7B2FBE"/>
      </a:accent4>
      <a:accent5>
        <a:srgbClr val="F0A500"/>
      </a:accent5>
      <a:accent6>
        <a:srgbClr val="2DC26B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8050794-1DA2-754C-8CE8-2D3BDCAD6288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c6d8a60e-107b-414b-bc7b-f5ec5eb54c6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889</Words>
  <Application>Microsoft Macintosh PowerPoint</Application>
  <PresentationFormat>On-screen Show (16:9)</PresentationFormat>
  <Paragraphs>117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Georgia</vt:lpstr>
      <vt:lpstr>Segoe UI</vt:lpstr>
      <vt:lpstr>Trebuchet MS</vt:lpstr>
      <vt:lpstr>Office Theme [1779173433035]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Elevator – AI Vision Dispatch</dc:title>
  <dc:subject>PptxGenJS Presentation</dc:subject>
  <dc:creator>PptxGenJS</dc:creator>
  <cp:lastModifiedBy>Htet San</cp:lastModifiedBy>
  <cp:revision>4</cp:revision>
  <dcterms:created xsi:type="dcterms:W3CDTF">2026-05-16T05:46:59Z</dcterms:created>
  <dcterms:modified xsi:type="dcterms:W3CDTF">2026-05-19T15:58:39Z</dcterms:modified>
</cp:coreProperties>
</file>